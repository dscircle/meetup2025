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60" r:id="rId2"/>
    <p:sldId id="259" r:id="rId3"/>
    <p:sldId id="258" r:id="rId4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F61"/>
    <a:srgbClr val="DA3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251200" y="1689900"/>
            <a:ext cx="3611126" cy="7213270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770467"/>
            <a:ext cx="4616035" cy="4512735"/>
          </a:xfrm>
        </p:spPr>
        <p:txBody>
          <a:bodyPr anchor="b">
            <a:normAutofit/>
          </a:bodyPr>
          <a:lstStyle>
            <a:lvl1pPr algn="l">
              <a:defRPr sz="33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5552254"/>
            <a:ext cx="3715688" cy="2763895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7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1" y="770467"/>
            <a:ext cx="4916150" cy="5442190"/>
          </a:xfrm>
        </p:spPr>
        <p:txBody>
          <a:bodyPr anchor="ctr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37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861733"/>
            <a:ext cx="4801851" cy="3350919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6481704"/>
            <a:ext cx="4801850" cy="221356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77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00051" y="770467"/>
            <a:ext cx="2962475" cy="5442186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3496771" y="770466"/>
            <a:ext cx="2961179" cy="5429956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17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770467"/>
            <a:ext cx="2787650" cy="880533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" y="1651001"/>
            <a:ext cx="2959100" cy="4561652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1263" y="818622"/>
            <a:ext cx="2823038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6772" y="1651000"/>
            <a:ext cx="2967529" cy="4549422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23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66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35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0" y="770467"/>
            <a:ext cx="2400300" cy="2201333"/>
          </a:xfrm>
        </p:spPr>
        <p:txBody>
          <a:bodyPr anchor="b">
            <a:normAutofit/>
          </a:bodyPr>
          <a:lstStyle>
            <a:lvl1pPr algn="l">
              <a:defRPr sz="15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770467"/>
            <a:ext cx="3329066" cy="79248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0" y="3191937"/>
            <a:ext cx="2400300" cy="302071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04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1850" y="2091267"/>
            <a:ext cx="2672444" cy="1651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71500" y="1320800"/>
            <a:ext cx="2460731" cy="693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2021" y="3962400"/>
            <a:ext cx="2673167" cy="3008489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" y="8915401"/>
            <a:ext cx="4358793" cy="52740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38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00050" y="770467"/>
            <a:ext cx="6057900" cy="4512733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1502" y="5552252"/>
            <a:ext cx="5460999" cy="6604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0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70467"/>
            <a:ext cx="6057900" cy="4182533"/>
          </a:xfrm>
        </p:spPr>
        <p:txBody>
          <a:bodyPr anchor="ctr">
            <a:normAutofit/>
          </a:bodyPr>
          <a:lstStyle>
            <a:lvl1pPr algn="l">
              <a:defRPr sz="21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943600"/>
            <a:ext cx="4787664" cy="2751667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19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70467"/>
            <a:ext cx="5144840" cy="4182533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4953000"/>
            <a:ext cx="4801850" cy="697089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212657"/>
            <a:ext cx="4786771" cy="248261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1026457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999091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388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953000"/>
            <a:ext cx="4786771" cy="2451800"/>
          </a:xfrm>
        </p:spPr>
        <p:txBody>
          <a:bodyPr anchor="b">
            <a:normAutofit/>
          </a:bodyPr>
          <a:lstStyle>
            <a:lvl1pPr algn="l">
              <a:defRPr sz="21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7414305"/>
            <a:ext cx="4787664" cy="1280961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120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70467"/>
            <a:ext cx="5144840" cy="4182533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613400"/>
            <a:ext cx="4786771" cy="151647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7154334"/>
            <a:ext cx="4786770" cy="154093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1026457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999091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0453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70467"/>
            <a:ext cx="5644244" cy="418253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100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674549"/>
            <a:ext cx="4786771" cy="121073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885285"/>
            <a:ext cx="4786770" cy="18099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818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</p:spPr>
        <p:txBody>
          <a:bodyPr>
            <a:normAutofit/>
          </a:bodyPr>
          <a:lstStyle>
            <a:lvl1pPr algn="l">
              <a:defRPr sz="21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1" y="770468"/>
            <a:ext cx="4916150" cy="544219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553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24804" y="770467"/>
            <a:ext cx="1533146" cy="6383867"/>
          </a:xfrm>
        </p:spPr>
        <p:txBody>
          <a:bodyPr vert="eaVert">
            <a:normAutofit/>
          </a:bodyPr>
          <a:lstStyle>
            <a:lvl1pPr>
              <a:defRPr sz="21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0" y="770467"/>
            <a:ext cx="4387509" cy="792480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17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003006" y="5625631"/>
            <a:ext cx="1852842" cy="384010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51" y="6493934"/>
            <a:ext cx="4916150" cy="220133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770468"/>
            <a:ext cx="4916150" cy="54421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72684" y="8915405"/>
            <a:ext cx="900347" cy="52740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BA9B1F9-6217-4899-888D-15EFF69CE71A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050" y="8915401"/>
            <a:ext cx="4358793" cy="52740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30820" y="8057803"/>
            <a:ext cx="642680" cy="9676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2066F3-349B-4D58-B515-5BF16DB26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717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342900" rtl="0" eaLnBrk="1" latinLnBrk="1" hangingPunct="1">
        <a:spcBef>
          <a:spcPct val="0"/>
        </a:spcBef>
        <a:buNone/>
        <a:defRPr sz="2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1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0" y="7317193"/>
            <a:ext cx="6858000" cy="2617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56" y="7555503"/>
            <a:ext cx="1947654" cy="3256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44" y="8177403"/>
            <a:ext cx="1787395" cy="5037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9978" t="19232" r="14437" b="24101"/>
          <a:stretch/>
        </p:blipFill>
        <p:spPr>
          <a:xfrm>
            <a:off x="2433200" y="7331706"/>
            <a:ext cx="2260600" cy="86360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376" y="8046736"/>
            <a:ext cx="2857500" cy="952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44" y="8921208"/>
            <a:ext cx="1494076" cy="56334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rcRect t="29185" b="31402"/>
          <a:stretch/>
        </p:blipFill>
        <p:spPr>
          <a:xfrm>
            <a:off x="2327262" y="8999881"/>
            <a:ext cx="2349612" cy="5471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01812" y="302388"/>
            <a:ext cx="6279908" cy="6981303"/>
          </a:xfrm>
          <a:prstGeom prst="rect">
            <a:avLst/>
          </a:prstGeom>
          <a:solidFill>
            <a:srgbClr val="052F6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994473" y="483217"/>
            <a:ext cx="4307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2025 </a:t>
            </a:r>
            <a:r>
              <a:rPr lang="ko-KR" altLang="en-US" sz="2400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보험 데이터 분석가 모임</a:t>
            </a:r>
            <a:endParaRPr lang="ko-KR" altLang="en-US" sz="24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4337" y="1332924"/>
            <a:ext cx="6256819" cy="6303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시간                            프로그램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buFont typeface="Wingdings" panose="05000000000000000000" pitchFamily="2" charset="2"/>
              <a:buChar char="§"/>
            </a:pPr>
            <a:endParaRPr lang="en-US" altLang="ko-KR" sz="1463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부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자기소개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PM 08:00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08:10 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모임 소개 및 취지 설명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PM 08:10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09:00 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회사별 자기소개 및 모임에 바라는점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부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소통 </a:t>
            </a:r>
            <a:endParaRPr lang="en-US" altLang="ko-KR" sz="1463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PM 09:10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10:00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생성형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시대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데이터분석가의 향후 역량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커리어 </a:t>
            </a:r>
            <a:r>
              <a:rPr lang="ko-KR" altLang="en-US" sz="14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방향</a:t>
            </a:r>
            <a:r>
              <a:rPr lang="en-US" altLang="ko-KR" sz="14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1" smtClean="0">
                <a:solidFill>
                  <a:schemeClr val="accent2">
                    <a:lumMod val="40000"/>
                    <a:lumOff val="6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endParaRPr lang="en-US" altLang="ko-KR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부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특별 게스트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단머스팀 경진대회 후기 공유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PM 10:00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10:30 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 </a:t>
            </a:r>
            <a:r>
              <a:rPr lang="ko-KR" altLang="ko-KR" sz="16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휴먼이해 </a:t>
            </a:r>
            <a:r>
              <a:rPr lang="ko-KR" altLang="ko-KR" sz="160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인공지능 </a:t>
            </a:r>
            <a:r>
              <a:rPr lang="ko-KR" altLang="ko-KR" sz="16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논문경진대회</a:t>
            </a:r>
            <a:endParaRPr lang="en-US" altLang="ko-KR" sz="1600" smtClean="0">
              <a:latin typeface="나눔고딕" panose="020D0604000000000000" pitchFamily="50" charset="-127"/>
              <a:ea typeface="나눔고딕" panose="020D0604000000000000" pitchFamily="50" charset="-127"/>
              <a:cs typeface="Arial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6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                                </a:t>
            </a:r>
            <a:r>
              <a:rPr lang="en-US" altLang="ko-KR" sz="14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(</a:t>
            </a:r>
            <a:r>
              <a:rPr lang="ko-KR" altLang="en-US" sz="14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우수상</a:t>
            </a:r>
            <a:r>
              <a:rPr lang="en-US" altLang="ko-KR" sz="14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, </a:t>
            </a:r>
            <a:r>
              <a:rPr lang="ko-KR" altLang="en-US" sz="14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과학기술정보통신부장관상</a:t>
            </a:r>
            <a:r>
              <a:rPr lang="en-US" altLang="ko-KR" sz="1400" smtClean="0">
                <a:latin typeface="나눔고딕" panose="020D0604000000000000" pitchFamily="50" charset="-127"/>
                <a:ea typeface="나눔고딕" panose="020D0604000000000000" pitchFamily="50" charset="-127"/>
                <a:cs typeface="Arial"/>
                <a:sym typeface="Arial"/>
              </a:rPr>
              <a:t>) </a:t>
            </a:r>
            <a:r>
              <a:rPr lang="ko-KR" altLang="en-US" sz="14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8358" indent="-78358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일시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월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일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오후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장소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서울 종로구 돈화문로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85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지하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층 리바운드 종로점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63">
                <a:latin typeface="나눔고딕" panose="020D0604000000000000" pitchFamily="50" charset="-127"/>
                <a:ea typeface="나눔고딕" panose="020D0604000000000000" pitchFamily="50" charset="-127"/>
              </a:rPr>
              <a:t>안국역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463">
                <a:latin typeface="나눔고딕" panose="020D0604000000000000" pitchFamily="50" charset="-127"/>
                <a:ea typeface="나눔고딕" panose="020D0604000000000000" pitchFamily="50" charset="-127"/>
              </a:rPr>
              <a:t>번출구에서 도보 약 </a:t>
            </a: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463">
                <a:latin typeface="나눔고딕" panose="020D0604000000000000" pitchFamily="50" charset="-127"/>
                <a:ea typeface="나눔고딕" panose="020D0604000000000000" pitchFamily="50" charset="-127"/>
              </a:rPr>
              <a:t>분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참가비용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만원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장소 대여 및 맥주 비용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63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-  3333094930073 </a:t>
            </a:r>
            <a:r>
              <a:rPr lang="ko-KR" altLang="en-US" sz="1463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카카오뱅크 현종열 </a:t>
            </a:r>
            <a:endParaRPr lang="en-US" altLang="ko-KR" sz="1463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481249" y="1740172"/>
            <a:ext cx="5781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0701" y="312566"/>
            <a:ext cx="951019" cy="789089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0" y="0"/>
            <a:ext cx="6858000" cy="9935027"/>
          </a:xfrm>
          <a:prstGeom prst="rect">
            <a:avLst/>
          </a:prstGeom>
          <a:noFill/>
          <a:ln w="3175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4852988" y="7582813"/>
            <a:ext cx="1713844" cy="476968"/>
          </a:xfrm>
          <a:prstGeom prst="round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4852988" y="8281952"/>
            <a:ext cx="1713844" cy="476968"/>
          </a:xfrm>
          <a:prstGeom prst="round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4852988" y="9007580"/>
            <a:ext cx="1713844" cy="476968"/>
          </a:xfrm>
          <a:prstGeom prst="round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0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1812" y="302388"/>
            <a:ext cx="6279908" cy="9209912"/>
          </a:xfrm>
          <a:prstGeom prst="rect">
            <a:avLst/>
          </a:prstGeom>
          <a:solidFill>
            <a:srgbClr val="052F6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smtClean="0"/>
              <a:t>[</a:t>
            </a:r>
            <a:r>
              <a:rPr lang="ko-KR" altLang="en-US" sz="2000" b="1" smtClean="0"/>
              <a:t>소통</a:t>
            </a:r>
            <a:r>
              <a:rPr lang="en-US" altLang="ko-KR" sz="2000" b="1" smtClean="0"/>
              <a:t>] </a:t>
            </a:r>
            <a:r>
              <a:rPr lang="ko-KR" altLang="en-US" sz="2000" b="1" smtClean="0"/>
              <a:t>지정 주제 후보</a:t>
            </a:r>
            <a:endParaRPr lang="en-US" altLang="ko-KR" sz="2000" b="1" smtClean="0"/>
          </a:p>
          <a:p>
            <a:pPr>
              <a:lnSpc>
                <a:spcPct val="150000"/>
              </a:lnSpc>
            </a:pPr>
            <a:r>
              <a:rPr lang="ko-KR" altLang="en-US" sz="2000" b="1" smtClean="0"/>
              <a:t> </a:t>
            </a:r>
            <a:endParaRPr lang="en-US" altLang="ko-KR" sz="1600" b="1" smtClean="0"/>
          </a:p>
          <a:p>
            <a:pPr>
              <a:lnSpc>
                <a:spcPct val="150000"/>
              </a:lnSpc>
            </a:pP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 b="1"/>
              <a:t>11) </a:t>
            </a:r>
            <a:r>
              <a:rPr lang="ko-KR" altLang="en-US" sz="1600" b="1"/>
              <a:t>생성형 </a:t>
            </a:r>
            <a:r>
              <a:rPr lang="en-US" altLang="ko-KR" sz="1600" b="1"/>
              <a:t>AI </a:t>
            </a:r>
            <a:r>
              <a:rPr lang="ko-KR" altLang="en-US" sz="1600" b="1"/>
              <a:t>시대</a:t>
            </a:r>
            <a:r>
              <a:rPr lang="en-US" altLang="ko-KR" sz="1600" b="1"/>
              <a:t>, </a:t>
            </a:r>
            <a:r>
              <a:rPr lang="ko-KR" altLang="en-US" sz="1600" b="1"/>
              <a:t>데이터분석가의 향후 역량</a:t>
            </a:r>
            <a:r>
              <a:rPr lang="en-US" altLang="ko-KR" sz="1600" b="1"/>
              <a:t>·</a:t>
            </a:r>
            <a:r>
              <a:rPr lang="ko-KR" altLang="en-US" sz="1600" b="1"/>
              <a:t>커리어 방향</a:t>
            </a:r>
          </a:p>
          <a:p>
            <a:pPr>
              <a:lnSpc>
                <a:spcPct val="150000"/>
              </a:lnSpc>
            </a:pPr>
            <a:r>
              <a:rPr lang="en-US" altLang="ko-KR" sz="1600" b="1"/>
              <a:t>4) MLOps </a:t>
            </a:r>
            <a:r>
              <a:rPr lang="ko-KR" altLang="en-US" sz="1600" b="1"/>
              <a:t>도입 경험 및 운영 이슈</a:t>
            </a:r>
          </a:p>
          <a:p>
            <a:pPr>
              <a:lnSpc>
                <a:spcPct val="150000"/>
              </a:lnSpc>
            </a:pPr>
            <a:r>
              <a:rPr lang="en-US" altLang="ko-KR" sz="1600" b="1"/>
              <a:t>8) </a:t>
            </a:r>
            <a:r>
              <a:rPr lang="ko-KR" altLang="en-US" sz="1600" b="1"/>
              <a:t>성과 좋은 과제 경험</a:t>
            </a:r>
          </a:p>
          <a:p>
            <a:pPr>
              <a:lnSpc>
                <a:spcPct val="150000"/>
              </a:lnSpc>
            </a:pPr>
            <a:r>
              <a:rPr lang="en-US" altLang="ko-KR" sz="1600" b="1" smtClean="0"/>
              <a:t>1</a:t>
            </a:r>
            <a:r>
              <a:rPr lang="en-US" altLang="ko-KR" sz="1600" b="1"/>
              <a:t>) AI</a:t>
            </a:r>
            <a:r>
              <a:rPr lang="ko-KR" altLang="en-US" sz="1600" b="1"/>
              <a:t>거버넌스 준비 현황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2) </a:t>
            </a:r>
            <a:r>
              <a:rPr lang="ko-KR" altLang="en-US" sz="1600"/>
              <a:t>생성형 </a:t>
            </a:r>
            <a:r>
              <a:rPr lang="en-US" altLang="ko-KR" sz="1600"/>
              <a:t>AI </a:t>
            </a:r>
            <a:r>
              <a:rPr lang="ko-KR" altLang="en-US" sz="1600"/>
              <a:t>과제 추진 현황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3) </a:t>
            </a:r>
            <a:r>
              <a:rPr lang="ko-KR" altLang="en-US" sz="1600"/>
              <a:t>분석계 시스템 도입 및 운영 이슈</a:t>
            </a:r>
          </a:p>
          <a:p>
            <a:pPr>
              <a:lnSpc>
                <a:spcPct val="150000"/>
              </a:lnSpc>
            </a:pPr>
            <a:r>
              <a:rPr lang="en-US" altLang="ko-KR" sz="1600" smtClean="0"/>
              <a:t>5</a:t>
            </a:r>
            <a:r>
              <a:rPr lang="en-US" altLang="ko-KR" sz="1600"/>
              <a:t>) </a:t>
            </a:r>
            <a:r>
              <a:rPr lang="ko-KR" altLang="en-US" sz="1600"/>
              <a:t>외부 데이터</a:t>
            </a:r>
            <a:r>
              <a:rPr lang="en-US" altLang="ko-KR" sz="1600"/>
              <a:t>(</a:t>
            </a:r>
            <a:r>
              <a:rPr lang="ko-KR" altLang="en-US" sz="1600"/>
              <a:t>통계청</a:t>
            </a:r>
            <a:r>
              <a:rPr lang="en-US" altLang="ko-KR" sz="1600"/>
              <a:t>·</a:t>
            </a:r>
            <a:r>
              <a:rPr lang="ko-KR" altLang="en-US" sz="1600"/>
              <a:t>신정원 등</a:t>
            </a:r>
            <a:r>
              <a:rPr lang="en-US" altLang="ko-KR" sz="1600"/>
              <a:t>) </a:t>
            </a:r>
            <a:r>
              <a:rPr lang="ko-KR" altLang="en-US" sz="1600"/>
              <a:t>활용 사례 </a:t>
            </a:r>
            <a:r>
              <a:rPr lang="en-US" altLang="ko-KR" sz="1600"/>
              <a:t>&amp; </a:t>
            </a:r>
            <a:r>
              <a:rPr lang="ko-KR" altLang="en-US" sz="1600"/>
              <a:t>규제 이슈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6) </a:t>
            </a:r>
            <a:r>
              <a:rPr lang="ko-KR" altLang="en-US" sz="1600"/>
              <a:t>데이터 기반 서비스</a:t>
            </a:r>
            <a:r>
              <a:rPr lang="en-US" altLang="ko-KR" sz="1600"/>
              <a:t>(</a:t>
            </a:r>
            <a:r>
              <a:rPr lang="ko-KR" altLang="en-US" sz="1600"/>
              <a:t>보험금 지급심사</a:t>
            </a:r>
            <a:r>
              <a:rPr lang="en-US" altLang="ko-KR" sz="1600"/>
              <a:t>) </a:t>
            </a:r>
            <a:r>
              <a:rPr lang="ko-KR" altLang="en-US" sz="1600"/>
              <a:t>운영 경험 및 개선 사례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7) </a:t>
            </a:r>
            <a:r>
              <a:rPr lang="ko-KR" altLang="en-US" sz="1600"/>
              <a:t>마케팅 모델 적용 전략 </a:t>
            </a:r>
            <a:r>
              <a:rPr lang="en-US" altLang="ko-KR" sz="1600"/>
              <a:t>&amp; </a:t>
            </a:r>
            <a:r>
              <a:rPr lang="ko-KR" altLang="en-US" sz="1600"/>
              <a:t>성과</a:t>
            </a:r>
          </a:p>
          <a:p>
            <a:pPr>
              <a:lnSpc>
                <a:spcPct val="150000"/>
              </a:lnSpc>
            </a:pPr>
            <a:r>
              <a:rPr lang="en-US" altLang="ko-KR" sz="1600" smtClean="0"/>
              <a:t>9</a:t>
            </a:r>
            <a:r>
              <a:rPr lang="en-US" altLang="ko-KR" sz="1600"/>
              <a:t>) </a:t>
            </a:r>
            <a:r>
              <a:rPr lang="ko-KR" altLang="en-US" sz="1600"/>
              <a:t>성과 아쉬운 과제 경험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10) </a:t>
            </a:r>
            <a:r>
              <a:rPr lang="ko-KR" altLang="en-US" sz="1600"/>
              <a:t>분석가 커리어 성장 전략 </a:t>
            </a:r>
            <a:r>
              <a:rPr lang="en-US" altLang="ko-KR" sz="1600"/>
              <a:t>(</a:t>
            </a:r>
            <a:r>
              <a:rPr lang="ko-KR" altLang="en-US" sz="1600"/>
              <a:t>주니어 → 시니어</a:t>
            </a:r>
            <a:r>
              <a:rPr lang="en-US" altLang="ko-KR" sz="1600"/>
              <a:t>)</a:t>
            </a:r>
            <a:endParaRPr lang="ko-KR" altLang="en-US" sz="160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12</a:t>
            </a:r>
            <a:r>
              <a:rPr lang="en-US" altLang="ko-KR" sz="1600"/>
              <a:t>) </a:t>
            </a:r>
            <a:r>
              <a:rPr lang="ko-KR" altLang="en-US" sz="1600"/>
              <a:t>기타 의견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257800" y="469900"/>
            <a:ext cx="11303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r>
              <a:rPr lang="ko-KR" altLang="en-US" smtClean="0"/>
              <a:t>개 선택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04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31774" y="289688"/>
            <a:ext cx="6460007" cy="2732912"/>
          </a:xfrm>
          <a:prstGeom prst="rect">
            <a:avLst/>
          </a:prstGeom>
          <a:solidFill>
            <a:srgbClr val="052F6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서울 종로구 돈화문로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85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지하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층 리바운드 종로점</a:t>
            </a:r>
            <a:endParaRPr lang="en-US" altLang="ko-KR" sz="16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" y="5103812"/>
            <a:ext cx="6460007" cy="461825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" y="887413"/>
            <a:ext cx="6460007" cy="42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398</TotalTime>
  <Words>254</Words>
  <Application>Microsoft Office PowerPoint</Application>
  <PresentationFormat>A4 용지(210x297mm)</PresentationFormat>
  <Paragraphs>36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HY중고딕</vt:lpstr>
      <vt:lpstr>나눔고딕</vt:lpstr>
      <vt:lpstr>Arial</vt:lpstr>
      <vt:lpstr>Century Gothic</vt:lpstr>
      <vt:lpstr>Wingdings</vt:lpstr>
      <vt:lpstr>Wingdings 3</vt:lpstr>
      <vt:lpstr>슬라이스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현종열</dc:creator>
  <cp:lastModifiedBy>현종열</cp:lastModifiedBy>
  <cp:revision>31</cp:revision>
  <dcterms:created xsi:type="dcterms:W3CDTF">2025-12-11T03:33:44Z</dcterms:created>
  <dcterms:modified xsi:type="dcterms:W3CDTF">2025-12-16T01:29:52Z</dcterms:modified>
</cp:coreProperties>
</file>